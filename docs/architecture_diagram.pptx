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38" d="100"/>
          <a:sy n="138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E526C7-603D-78F0-BF36-45B2B15EE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83FB29-887A-C61E-73E5-172E129CB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909DFF-49F2-DA8E-4E6A-4D416352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7CDEC5-C618-06B5-3BFC-961EC310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22308D-F5F4-D8EB-4B99-E05F498C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7667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4DDAF-5B78-5B1A-973D-688D81F2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249EE3-96C7-373E-D2B9-96B4F1E45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47C5CA-3C9B-4EB6-4C87-D384EEB4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EE3BCE-1351-81A9-392B-A9BB4A92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9201BC-C37E-EE70-E57C-F9352363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625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213F92-891F-D9F8-775F-C8EABB57A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727AAD-C890-3FDA-7409-B1ADCFD6D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F9164E-845A-4AE3-73CE-448B14E0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3A1C42-1948-540A-8A9E-E5CB72E5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41757B-EE08-AF05-E251-F58B8972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10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773993-A205-6BAB-E62B-64EA9A2E5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AB08AC-220D-92E3-B618-7C0635611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32E67C-3452-F453-ADB9-135F3886C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854B70-7258-7A80-1976-14121828E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5AAC3B-1843-7C31-5DD9-D85A31A6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A08D0C-421D-E950-C449-34E26DD80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9728B9-0094-A1A5-EB4B-A200B1E2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9D0FE7-AFC2-5336-4C09-FFB84ECBF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CA99DC-9826-41D0-D26F-8C998AFD4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78D8C4-9E15-2BAC-C7AB-D471D9C2C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020BB0E-0A7E-3553-11A0-FFCB39F75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573735C-9C89-B0A6-C89A-B6C18D84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2377E6-D931-FD04-B312-8B2834BDD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BDC041-139C-734A-1CB2-B10609C9A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62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EEE4A5-E0FA-33D6-0C1E-4A33FF23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3852FF-0B8E-A5CF-6EB0-4AF496F5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F326A1-1196-B0FC-347B-C1AB29E9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086C28-8B8F-93EA-E2A3-44DED5A5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013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A0C9E4-8D7D-1EE6-C6B0-C3E35F0D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3B7AD66-CBE3-8A90-9CF7-9D22DF5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38208A-9C97-ABAC-0B03-CACF1D21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98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F1D63F-CFC3-3778-8AB8-32A7548D1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524A53-FB40-E5A6-359F-279226033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463CC0-25CD-2308-BB30-6CEE387BF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4BF4F0-C48B-582B-E58E-05FAFEF5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2A57AE-C544-ECB7-C151-78172907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5445D1-77EE-A01B-3E8A-BBC0BE9B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0105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1A0FE0-093E-4990-2A4F-75608291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72DDB46-467C-8FDE-2C05-9B2184CB7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A264E6-6D8B-32FB-06CB-9F685B763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CCF4F0-FF74-EE39-1933-18F0F4DB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752C80-B6C8-16EA-24CA-9EA1252A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8D85B5-9112-896B-2540-05E57E0D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71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92607-EAB4-DE19-D8F5-5B76283D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2553D5A-20A3-B0BB-3C07-DD3DC0403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9CA4AD-B242-D63F-4A5A-6964B521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F66BA9-050F-91E8-1704-570551DF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BB502E-7568-3271-DCF8-9F5D4818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50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FC6696B-2632-53F6-8E0C-380F85739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CE3BDC-2C48-B454-4941-08CB5729E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320AF1-92E2-DA2F-9F69-6FB60ECA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F2BC30-1F11-A9E6-7283-2E99C037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A18E74-3B26-8362-2157-066D0E6B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652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4339E87-CF77-A838-BD9D-F2E3FA6D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F4A432-1C71-1C96-CC58-FADDE2B8F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A97E49-1D0C-400F-D9C2-7691D5E60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22DDF-7A15-7845-B053-FD972140AA63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0766F5-1250-E444-7975-A119FD3D2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DDC396-4A97-EC87-5104-FCD2B5A42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EBE77-B175-9049-BA97-D59843946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47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0B0B744-9D77-8104-15B6-FA5CB254E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7378" y="902489"/>
            <a:ext cx="1424244" cy="1424244"/>
          </a:xfrm>
        </p:spPr>
      </p:pic>
      <p:pic>
        <p:nvPicPr>
          <p:cNvPr id="7" name="グラフィックス 6" descr="データベース 単色塗りつぶし">
            <a:extLst>
              <a:ext uri="{FF2B5EF4-FFF2-40B4-BE49-F238E27FC236}">
                <a16:creationId xmlns:a16="http://schemas.microsoft.com/office/drawing/2014/main" id="{69D4C299-F5A7-BB15-1659-CD1689BFE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7810" y="5249037"/>
            <a:ext cx="849600" cy="849600"/>
          </a:xfrm>
          <a:prstGeom prst="rect">
            <a:avLst/>
          </a:prstGeom>
        </p:spPr>
      </p:pic>
      <p:pic>
        <p:nvPicPr>
          <p:cNvPr id="9" name="グラフィックス 8" descr="プロセッサ 単色塗りつぶし">
            <a:extLst>
              <a:ext uri="{FF2B5EF4-FFF2-40B4-BE49-F238E27FC236}">
                <a16:creationId xmlns:a16="http://schemas.microsoft.com/office/drawing/2014/main" id="{56CCE211-F27E-913F-6E8D-C4F361BB5A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8986" y="1190590"/>
            <a:ext cx="851373" cy="851373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57E40F3-EAFC-EFD7-6A71-75659DACCE86}"/>
              </a:ext>
            </a:extLst>
          </p:cNvPr>
          <p:cNvSpPr/>
          <p:nvPr/>
        </p:nvSpPr>
        <p:spPr>
          <a:xfrm>
            <a:off x="5698836" y="510039"/>
            <a:ext cx="6271491" cy="60108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2DED828-5AEF-950B-DBBC-7A4D5FC84CBD}"/>
              </a:ext>
            </a:extLst>
          </p:cNvPr>
          <p:cNvSpPr txBox="1"/>
          <p:nvPr/>
        </p:nvSpPr>
        <p:spPr>
          <a:xfrm>
            <a:off x="7203365" y="244998"/>
            <a:ext cx="3262432" cy="524553"/>
          </a:xfrm>
          <a:prstGeom prst="rect">
            <a:avLst/>
          </a:prstGeom>
          <a:solidFill>
            <a:schemeClr val="accent2"/>
          </a:solidFill>
        </p:spPr>
        <p:txBody>
          <a:bodyPr wrap="none" tIns="108000" rtlCol="0">
            <a:spAutoFit/>
          </a:bodyPr>
          <a:lstStyle/>
          <a:p>
            <a:r>
              <a:rPr kumimoji="1" lang="ja-JP" altLang="en-US" sz="2400">
                <a:solidFill>
                  <a:schemeClr val="bg1"/>
                </a:solidFill>
                <a:latin typeface="Arial" panose="020B0604020202020204" pitchFamily="34" charset="0"/>
                <a:ea typeface="Meiryo" panose="020B0604030504040204" pitchFamily="34" charset="-128"/>
              </a:rPr>
              <a:t>物品自動管理システム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D0187B0-5F7B-F92D-6F2C-EB5F1761DD8F}"/>
              </a:ext>
            </a:extLst>
          </p:cNvPr>
          <p:cNvSpPr txBox="1"/>
          <p:nvPr/>
        </p:nvSpPr>
        <p:spPr>
          <a:xfrm>
            <a:off x="10601668" y="6040184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データベース</a:t>
            </a:r>
          </a:p>
        </p:txBody>
      </p:sp>
      <p:pic>
        <p:nvPicPr>
          <p:cNvPr id="15" name="グラフィックス 14" descr="プロセッサ 単色塗りつぶし">
            <a:extLst>
              <a:ext uri="{FF2B5EF4-FFF2-40B4-BE49-F238E27FC236}">
                <a16:creationId xmlns:a16="http://schemas.microsoft.com/office/drawing/2014/main" id="{C4822FE1-2872-2360-B1FD-400AA18721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60498" y="1188925"/>
            <a:ext cx="851373" cy="851373"/>
          </a:xfrm>
          <a:prstGeom prst="rect">
            <a:avLst/>
          </a:prstGeom>
        </p:spPr>
      </p:pic>
      <p:pic>
        <p:nvPicPr>
          <p:cNvPr id="16" name="グラフィックス 15" descr="プロセッサ 単色塗りつぶし">
            <a:extLst>
              <a:ext uri="{FF2B5EF4-FFF2-40B4-BE49-F238E27FC236}">
                <a16:creationId xmlns:a16="http://schemas.microsoft.com/office/drawing/2014/main" id="{92F337C9-0447-2A6F-40B1-EC8660AEF1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8893" y="3213042"/>
            <a:ext cx="851373" cy="851373"/>
          </a:xfrm>
          <a:prstGeom prst="rect">
            <a:avLst/>
          </a:prstGeom>
        </p:spPr>
      </p:pic>
      <p:pic>
        <p:nvPicPr>
          <p:cNvPr id="17" name="グラフィックス 16" descr="プロセッサ 単色塗りつぶし">
            <a:extLst>
              <a:ext uri="{FF2B5EF4-FFF2-40B4-BE49-F238E27FC236}">
                <a16:creationId xmlns:a16="http://schemas.microsoft.com/office/drawing/2014/main" id="{800B4489-02FD-8025-9611-2C50CA26C4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8892" y="5247264"/>
            <a:ext cx="851373" cy="851373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9FA2D1F-C314-E0C8-49B3-A51794DD45FA}"/>
              </a:ext>
            </a:extLst>
          </p:cNvPr>
          <p:cNvSpPr txBox="1"/>
          <p:nvPr/>
        </p:nvSpPr>
        <p:spPr>
          <a:xfrm>
            <a:off x="5929603" y="1919966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 err="1">
                <a:latin typeface="Arial" panose="020B0604020202020204" pitchFamily="34" charset="0"/>
                <a:ea typeface="Meiryo" panose="020B0604030504040204" pitchFamily="34" charset="-128"/>
              </a:rPr>
              <a:t>Interfases</a:t>
            </a:r>
            <a:endParaRPr kumimoji="1" lang="ja-JP" altLang="en-US" sz="1400">
              <a:latin typeface="Arial" panose="020B0604020202020204" pitchFamily="34" charset="0"/>
              <a:ea typeface="Meiryo" panose="020B0604030504040204" pitchFamily="34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9B86E54-645C-AE85-2F59-F26A1BEA66B2}"/>
              </a:ext>
            </a:extLst>
          </p:cNvPr>
          <p:cNvSpPr txBox="1"/>
          <p:nvPr/>
        </p:nvSpPr>
        <p:spPr>
          <a:xfrm>
            <a:off x="8198710" y="1928005"/>
            <a:ext cx="971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 err="1">
                <a:latin typeface="Arial" panose="020B0604020202020204" pitchFamily="34" charset="0"/>
                <a:ea typeface="Meiryo" panose="020B0604030504040204" pitchFamily="34" charset="-128"/>
              </a:rPr>
              <a:t>Usecases</a:t>
            </a:r>
            <a:endParaRPr kumimoji="1" lang="ja-JP" altLang="en-US" sz="1400">
              <a:latin typeface="Arial" panose="020B0604020202020204" pitchFamily="34" charset="0"/>
              <a:ea typeface="Meiryo" panose="020B0604030504040204" pitchFamily="34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8D08119-5871-8EE6-0C89-7FCC1385FB9A}"/>
              </a:ext>
            </a:extLst>
          </p:cNvPr>
          <p:cNvSpPr txBox="1"/>
          <p:nvPr/>
        </p:nvSpPr>
        <p:spPr>
          <a:xfrm>
            <a:off x="8283666" y="3962227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>
                <a:latin typeface="Arial" panose="020B0604020202020204" pitchFamily="34" charset="0"/>
                <a:ea typeface="Meiryo" panose="020B0604030504040204" pitchFamily="34" charset="-128"/>
              </a:rPr>
              <a:t>Domain</a:t>
            </a:r>
            <a:endParaRPr kumimoji="1" lang="ja-JP" altLang="en-US" sz="1400">
              <a:latin typeface="Arial" panose="020B0604020202020204" pitchFamily="34" charset="0"/>
              <a:ea typeface="Meiryo" panose="020B0604030504040204" pitchFamily="34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BC49211-6EC4-5376-0831-2C3D93400271}"/>
              </a:ext>
            </a:extLst>
          </p:cNvPr>
          <p:cNvSpPr txBox="1"/>
          <p:nvPr/>
        </p:nvSpPr>
        <p:spPr>
          <a:xfrm>
            <a:off x="8065658" y="6001379"/>
            <a:ext cx="12378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>
                <a:latin typeface="Arial" panose="020B0604020202020204" pitchFamily="34" charset="0"/>
                <a:ea typeface="Meiryo" panose="020B0604030504040204" pitchFamily="34" charset="-128"/>
              </a:rPr>
              <a:t>Infrastructure</a:t>
            </a:r>
            <a:endParaRPr kumimoji="1" lang="ja-JP" altLang="en-US" sz="1400">
              <a:latin typeface="Arial" panose="020B0604020202020204" pitchFamily="34" charset="0"/>
              <a:ea typeface="Meiryo" panose="020B0604030504040204" pitchFamily="34" charset="-128"/>
            </a:endParaRPr>
          </a:p>
        </p:txBody>
      </p:sp>
      <p:pic>
        <p:nvPicPr>
          <p:cNvPr id="24" name="グラフィックス 23" descr="ユーザー 単色塗りつぶし">
            <a:extLst>
              <a:ext uri="{FF2B5EF4-FFF2-40B4-BE49-F238E27FC236}">
                <a16:creationId xmlns:a16="http://schemas.microsoft.com/office/drawing/2014/main" id="{279287C6-D4A4-92AE-370E-101062B517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6425" y="1189676"/>
            <a:ext cx="853200" cy="853200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58346FA-F84F-6795-96CF-D3E2E762DDD7}"/>
              </a:ext>
            </a:extLst>
          </p:cNvPr>
          <p:cNvSpPr txBox="1"/>
          <p:nvPr/>
        </p:nvSpPr>
        <p:spPr>
          <a:xfrm>
            <a:off x="3047556" y="1922484"/>
            <a:ext cx="623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Arial" panose="020B0604020202020204" pitchFamily="34" charset="0"/>
                <a:ea typeface="Meiryo" panose="020B0604030504040204" pitchFamily="34" charset="-128"/>
              </a:rPr>
              <a:t>Slack</a:t>
            </a:r>
            <a:endParaRPr kumimoji="1" lang="ja-JP" altLang="en-US" sz="1400">
              <a:latin typeface="Arial" panose="020B0604020202020204" pitchFamily="34" charset="0"/>
              <a:ea typeface="Meiryo" panose="020B0604030504040204" pitchFamily="34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C2A9DC7-CC74-B4E4-C07C-D82C3E2E05E8}"/>
              </a:ext>
            </a:extLst>
          </p:cNvPr>
          <p:cNvSpPr txBox="1"/>
          <p:nvPr/>
        </p:nvSpPr>
        <p:spPr>
          <a:xfrm>
            <a:off x="111619" y="193593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ユーザー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BDC824A4-7BEB-C2A2-7FC1-8658EA4E82C7}"/>
              </a:ext>
            </a:extLst>
          </p:cNvPr>
          <p:cNvCxnSpPr>
            <a:cxnSpLocks/>
          </p:cNvCxnSpPr>
          <p:nvPr/>
        </p:nvCxnSpPr>
        <p:spPr>
          <a:xfrm>
            <a:off x="1188978" y="1514762"/>
            <a:ext cx="1555745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F7D595EE-4F1E-058C-1C8B-CD46EAD4AD7D}"/>
              </a:ext>
            </a:extLst>
          </p:cNvPr>
          <p:cNvCxnSpPr>
            <a:cxnSpLocks/>
          </p:cNvCxnSpPr>
          <p:nvPr/>
        </p:nvCxnSpPr>
        <p:spPr>
          <a:xfrm flipH="1">
            <a:off x="1188978" y="1667162"/>
            <a:ext cx="1555745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7B448240-7AA3-ADD7-95A3-33306E140399}"/>
              </a:ext>
            </a:extLst>
          </p:cNvPr>
          <p:cNvCxnSpPr>
            <a:cxnSpLocks/>
          </p:cNvCxnSpPr>
          <p:nvPr/>
        </p:nvCxnSpPr>
        <p:spPr>
          <a:xfrm>
            <a:off x="3882941" y="1514762"/>
            <a:ext cx="2046662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F5E562F2-35CB-07F4-0F7A-2A41C6897F56}"/>
              </a:ext>
            </a:extLst>
          </p:cNvPr>
          <p:cNvCxnSpPr>
            <a:cxnSpLocks/>
          </p:cNvCxnSpPr>
          <p:nvPr/>
        </p:nvCxnSpPr>
        <p:spPr>
          <a:xfrm flipH="1">
            <a:off x="3882941" y="1667162"/>
            <a:ext cx="2046662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5F1C470-5895-D478-39ED-28B58062D8C5}"/>
              </a:ext>
            </a:extLst>
          </p:cNvPr>
          <p:cNvSpPr txBox="1"/>
          <p:nvPr/>
        </p:nvSpPr>
        <p:spPr>
          <a:xfrm>
            <a:off x="3971262" y="947016"/>
            <a:ext cx="1827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物品への</a:t>
            </a:r>
            <a:endParaRPr kumimoji="1" lang="en-US" altLang="ja-JP" sz="1400" dirty="0">
              <a:latin typeface="Arial" panose="020B0604020202020204" pitchFamily="34" charset="0"/>
              <a:ea typeface="Meiryo" panose="020B0604030504040204" pitchFamily="34" charset="-128"/>
            </a:endParaRPr>
          </a:p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リクエスト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3C3A5FF9-B05F-D2DE-A820-402CF1435587}"/>
              </a:ext>
            </a:extLst>
          </p:cNvPr>
          <p:cNvSpPr txBox="1"/>
          <p:nvPr/>
        </p:nvSpPr>
        <p:spPr>
          <a:xfrm>
            <a:off x="3986284" y="1790347"/>
            <a:ext cx="182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レスポンス</a:t>
            </a:r>
          </a:p>
        </p:txBody>
      </p:sp>
      <p:sp>
        <p:nvSpPr>
          <p:cNvPr id="48" name="角丸四角形吹き出し 47">
            <a:extLst>
              <a:ext uri="{FF2B5EF4-FFF2-40B4-BE49-F238E27FC236}">
                <a16:creationId xmlns:a16="http://schemas.microsoft.com/office/drawing/2014/main" id="{C709649B-2917-2D9E-8119-ADDEA8B465C7}"/>
              </a:ext>
            </a:extLst>
          </p:cNvPr>
          <p:cNvSpPr/>
          <p:nvPr/>
        </p:nvSpPr>
        <p:spPr>
          <a:xfrm>
            <a:off x="858982" y="175491"/>
            <a:ext cx="1967345" cy="1033135"/>
          </a:xfrm>
          <a:prstGeom prst="wedgeRoundRectCallout">
            <a:avLst>
              <a:gd name="adj1" fmla="val -51349"/>
              <a:gd name="adj2" fmla="val 6875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2CBABBB-61DE-6E87-6591-C3F1A6636161}"/>
              </a:ext>
            </a:extLst>
          </p:cNvPr>
          <p:cNvSpPr txBox="1"/>
          <p:nvPr/>
        </p:nvSpPr>
        <p:spPr>
          <a:xfrm>
            <a:off x="928686" y="415121"/>
            <a:ext cx="1827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Arial" panose="020B0604020202020204" pitchFamily="34" charset="0"/>
                <a:ea typeface="Meiryo" panose="020B0604030504040204" pitchFamily="34" charset="-128"/>
              </a:rPr>
              <a:t>ID~</a:t>
            </a:r>
            <a:r>
              <a:rPr kumimoji="1" lang="ja-JP" altLang="en-US">
                <a:latin typeface="Arial" panose="020B0604020202020204" pitchFamily="34" charset="0"/>
                <a:ea typeface="Meiryo" panose="020B0604030504040204" pitchFamily="34" charset="-128"/>
              </a:rPr>
              <a:t>の物品を</a:t>
            </a:r>
            <a:endParaRPr kumimoji="1" lang="en-US" altLang="ja-JP" dirty="0">
              <a:latin typeface="Arial" panose="020B0604020202020204" pitchFamily="34" charset="0"/>
              <a:ea typeface="Meiryo" panose="020B0604030504040204" pitchFamily="34" charset="-128"/>
            </a:endParaRPr>
          </a:p>
          <a:p>
            <a:pPr algn="ctr"/>
            <a:r>
              <a:rPr kumimoji="1" lang="ja-JP" altLang="en-US">
                <a:latin typeface="Arial" panose="020B0604020202020204" pitchFamily="34" charset="0"/>
                <a:ea typeface="Meiryo" panose="020B0604030504040204" pitchFamily="34" charset="-128"/>
              </a:rPr>
              <a:t>借りたい</a:t>
            </a:r>
          </a:p>
        </p:txBody>
      </p:sp>
      <p:sp>
        <p:nvSpPr>
          <p:cNvPr id="51" name="角丸四角形吹き出し 50">
            <a:extLst>
              <a:ext uri="{FF2B5EF4-FFF2-40B4-BE49-F238E27FC236}">
                <a16:creationId xmlns:a16="http://schemas.microsoft.com/office/drawing/2014/main" id="{33FFE35D-0312-28C2-1296-A40A64D7A719}"/>
              </a:ext>
            </a:extLst>
          </p:cNvPr>
          <p:cNvSpPr/>
          <p:nvPr/>
        </p:nvSpPr>
        <p:spPr>
          <a:xfrm>
            <a:off x="1421164" y="2534758"/>
            <a:ext cx="1967345" cy="1033135"/>
          </a:xfrm>
          <a:prstGeom prst="wedgeRoundRectCallout">
            <a:avLst>
              <a:gd name="adj1" fmla="val 46303"/>
              <a:gd name="adj2" fmla="val -7070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C5CDBB66-219A-170A-4492-083ED8B1ADF1}"/>
              </a:ext>
            </a:extLst>
          </p:cNvPr>
          <p:cNvSpPr txBox="1"/>
          <p:nvPr/>
        </p:nvSpPr>
        <p:spPr>
          <a:xfrm>
            <a:off x="1490868" y="2774388"/>
            <a:ext cx="1827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Arial" panose="020B0604020202020204" pitchFamily="34" charset="0"/>
                <a:ea typeface="Meiryo" panose="020B0604030504040204" pitchFamily="34" charset="-128"/>
              </a:rPr>
              <a:t>ID~</a:t>
            </a:r>
            <a:r>
              <a:rPr kumimoji="1" lang="ja-JP" altLang="en-US">
                <a:latin typeface="Arial" panose="020B0604020202020204" pitchFamily="34" charset="0"/>
                <a:ea typeface="Meiryo" panose="020B0604030504040204" pitchFamily="34" charset="-128"/>
              </a:rPr>
              <a:t>の物品を</a:t>
            </a:r>
            <a:endParaRPr kumimoji="1" lang="en-US" altLang="ja-JP" dirty="0">
              <a:latin typeface="Arial" panose="020B0604020202020204" pitchFamily="34" charset="0"/>
              <a:ea typeface="Meiryo" panose="020B0604030504040204" pitchFamily="34" charset="-128"/>
            </a:endParaRPr>
          </a:p>
          <a:p>
            <a:pPr algn="ctr"/>
            <a:r>
              <a:rPr kumimoji="1" lang="ja-JP" altLang="en-US">
                <a:latin typeface="Arial" panose="020B0604020202020204" pitchFamily="34" charset="0"/>
                <a:ea typeface="Meiryo" panose="020B0604030504040204" pitchFamily="34" charset="-128"/>
              </a:rPr>
              <a:t>貸し出します</a:t>
            </a: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D733D0A7-45AB-359C-A7B4-3D88C3D5140E}"/>
              </a:ext>
            </a:extLst>
          </p:cNvPr>
          <p:cNvCxnSpPr>
            <a:cxnSpLocks/>
          </p:cNvCxnSpPr>
          <p:nvPr/>
        </p:nvCxnSpPr>
        <p:spPr>
          <a:xfrm>
            <a:off x="6840359" y="1514762"/>
            <a:ext cx="1418533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FA7C6CEE-1A87-B900-DD2C-4A3ABDE1FB03}"/>
              </a:ext>
            </a:extLst>
          </p:cNvPr>
          <p:cNvCxnSpPr>
            <a:cxnSpLocks/>
          </p:cNvCxnSpPr>
          <p:nvPr/>
        </p:nvCxnSpPr>
        <p:spPr>
          <a:xfrm>
            <a:off x="8756035" y="2243715"/>
            <a:ext cx="0" cy="969327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9E611B4F-6C3C-DA20-D675-6536B81649F4}"/>
              </a:ext>
            </a:extLst>
          </p:cNvPr>
          <p:cNvCxnSpPr>
            <a:cxnSpLocks/>
          </p:cNvCxnSpPr>
          <p:nvPr/>
        </p:nvCxnSpPr>
        <p:spPr>
          <a:xfrm flipH="1">
            <a:off x="6855897" y="1662543"/>
            <a:ext cx="1418533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63479BDA-30FE-4827-F0B5-B58AD95C1D28}"/>
              </a:ext>
            </a:extLst>
          </p:cNvPr>
          <p:cNvCxnSpPr>
            <a:cxnSpLocks/>
          </p:cNvCxnSpPr>
          <p:nvPr/>
        </p:nvCxnSpPr>
        <p:spPr>
          <a:xfrm flipV="1">
            <a:off x="8612871" y="2243715"/>
            <a:ext cx="0" cy="969327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16BAA4E1-C13D-E22A-CEB0-1B416D5CD8B6}"/>
              </a:ext>
            </a:extLst>
          </p:cNvPr>
          <p:cNvCxnSpPr>
            <a:cxnSpLocks/>
          </p:cNvCxnSpPr>
          <p:nvPr/>
        </p:nvCxnSpPr>
        <p:spPr>
          <a:xfrm>
            <a:off x="8756035" y="4270004"/>
            <a:ext cx="0" cy="969327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E6A1750C-76CE-3BFF-F3E1-2A9D3F14C160}"/>
              </a:ext>
            </a:extLst>
          </p:cNvPr>
          <p:cNvCxnSpPr>
            <a:cxnSpLocks/>
          </p:cNvCxnSpPr>
          <p:nvPr/>
        </p:nvCxnSpPr>
        <p:spPr>
          <a:xfrm flipV="1">
            <a:off x="8612871" y="4270004"/>
            <a:ext cx="0" cy="969327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C1DCF4E-BD42-3D36-745D-51A6E80923B4}"/>
              </a:ext>
            </a:extLst>
          </p:cNvPr>
          <p:cNvCxnSpPr>
            <a:cxnSpLocks/>
          </p:cNvCxnSpPr>
          <p:nvPr/>
        </p:nvCxnSpPr>
        <p:spPr>
          <a:xfrm>
            <a:off x="9094727" y="5592616"/>
            <a:ext cx="1813418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A5B440B3-7601-5F47-03EB-36D71C43EF8D}"/>
              </a:ext>
            </a:extLst>
          </p:cNvPr>
          <p:cNvCxnSpPr>
            <a:cxnSpLocks/>
          </p:cNvCxnSpPr>
          <p:nvPr/>
        </p:nvCxnSpPr>
        <p:spPr>
          <a:xfrm flipH="1">
            <a:off x="9110265" y="5740397"/>
            <a:ext cx="179788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01818F3F-0DB9-E210-3292-CD92E1BCF4D6}"/>
              </a:ext>
            </a:extLst>
          </p:cNvPr>
          <p:cNvSpPr txBox="1"/>
          <p:nvPr/>
        </p:nvSpPr>
        <p:spPr>
          <a:xfrm>
            <a:off x="8637862" y="2574489"/>
            <a:ext cx="182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ロジックの実行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ED66F11C-70E6-B252-3553-C699976FCCAA}"/>
              </a:ext>
            </a:extLst>
          </p:cNvPr>
          <p:cNvSpPr txBox="1"/>
          <p:nvPr/>
        </p:nvSpPr>
        <p:spPr>
          <a:xfrm>
            <a:off x="6626167" y="941341"/>
            <a:ext cx="1827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ユースケース</a:t>
            </a:r>
            <a:endParaRPr kumimoji="1" lang="en-US" altLang="ja-JP" sz="1400" dirty="0">
              <a:latin typeface="Arial" panose="020B0604020202020204" pitchFamily="34" charset="0"/>
              <a:ea typeface="Meiryo" panose="020B0604030504040204" pitchFamily="34" charset="-128"/>
            </a:endParaRPr>
          </a:p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呼び出し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CF35FDBE-2531-26FA-5FFF-4105843939DD}"/>
              </a:ext>
            </a:extLst>
          </p:cNvPr>
          <p:cNvSpPr txBox="1"/>
          <p:nvPr/>
        </p:nvSpPr>
        <p:spPr>
          <a:xfrm>
            <a:off x="8637862" y="4474720"/>
            <a:ext cx="2332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Meiryo" panose="020B0604030504040204" pitchFamily="34" charset="-128"/>
              </a:rPr>
              <a:t>Infra</a:t>
            </a:r>
            <a:r>
              <a:rPr kumimoji="1" lang="ja-JP" altLang="en-US" sz="1400">
                <a:solidFill>
                  <a:srgbClr val="FF0000"/>
                </a:solidFill>
                <a:latin typeface="Arial" panose="020B0604020202020204" pitchFamily="34" charset="0"/>
                <a:ea typeface="Meiryo" panose="020B0604030504040204" pitchFamily="34" charset="-128"/>
              </a:rPr>
              <a:t>を介して</a:t>
            </a:r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Meiryo" panose="020B0604030504040204" pitchFamily="34" charset="-128"/>
              </a:rPr>
              <a:t>DB</a:t>
            </a:r>
          </a:p>
          <a:p>
            <a:pPr algn="ctr"/>
            <a:r>
              <a:rPr lang="ja-JP" altLang="en-US" sz="1400">
                <a:solidFill>
                  <a:srgbClr val="FF0000"/>
                </a:solidFill>
                <a:latin typeface="Arial" panose="020B0604020202020204" pitchFamily="34" charset="0"/>
                <a:ea typeface="Meiryo" panose="020B0604030504040204" pitchFamily="34" charset="-128"/>
              </a:rPr>
              <a:t>アクセスを実行・更新</a:t>
            </a:r>
            <a:endParaRPr kumimoji="1" lang="ja-JP" altLang="en-US" sz="1400">
              <a:solidFill>
                <a:srgbClr val="FF0000"/>
              </a:solidFill>
              <a:latin typeface="Arial" panose="020B0604020202020204" pitchFamily="34" charset="0"/>
              <a:ea typeface="Meiryo" panose="020B0604030504040204" pitchFamily="34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E105C85E-5E39-A335-D284-FDDDFB4D78ED}"/>
              </a:ext>
            </a:extLst>
          </p:cNvPr>
          <p:cNvSpPr txBox="1"/>
          <p:nvPr/>
        </p:nvSpPr>
        <p:spPr>
          <a:xfrm>
            <a:off x="9071966" y="5253164"/>
            <a:ext cx="182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Arial" panose="020B0604020202020204" pitchFamily="34" charset="0"/>
                <a:ea typeface="Meiryo" panose="020B0604030504040204" pitchFamily="34" charset="-128"/>
              </a:rPr>
              <a:t>DB</a:t>
            </a:r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アクセス</a:t>
            </a:r>
            <a:r>
              <a:rPr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・更新</a:t>
            </a:r>
            <a:endParaRPr kumimoji="1" lang="ja-JP" altLang="en-US" sz="1400">
              <a:latin typeface="Arial" panose="020B0604020202020204" pitchFamily="34" charset="0"/>
              <a:ea typeface="Meiryo" panose="020B0604030504040204" pitchFamily="34" charset="-128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B00FE533-0888-CB97-2B6E-E16DB0A628F3}"/>
              </a:ext>
            </a:extLst>
          </p:cNvPr>
          <p:cNvSpPr txBox="1"/>
          <p:nvPr/>
        </p:nvSpPr>
        <p:spPr>
          <a:xfrm>
            <a:off x="6899740" y="2580316"/>
            <a:ext cx="182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ロジックの結果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08536C13-E15C-C5C8-C9FD-A210FB8C6A89}"/>
              </a:ext>
            </a:extLst>
          </p:cNvPr>
          <p:cNvSpPr txBox="1"/>
          <p:nvPr/>
        </p:nvSpPr>
        <p:spPr>
          <a:xfrm>
            <a:off x="6651195" y="1763856"/>
            <a:ext cx="18279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ユースケースの</a:t>
            </a:r>
            <a:endParaRPr kumimoji="1" lang="en-US" altLang="ja-JP" sz="1400" dirty="0">
              <a:latin typeface="Arial" panose="020B0604020202020204" pitchFamily="34" charset="0"/>
              <a:ea typeface="Meiryo" panose="020B0604030504040204" pitchFamily="34" charset="-128"/>
            </a:endParaRPr>
          </a:p>
          <a:p>
            <a:pPr algn="ctr"/>
            <a:r>
              <a:rPr kumimoji="1" lang="ja-JP" altLang="en-US" sz="1400">
                <a:latin typeface="Arial" panose="020B0604020202020204" pitchFamily="34" charset="0"/>
                <a:ea typeface="Meiryo" panose="020B0604030504040204" pitchFamily="34" charset="-128"/>
              </a:rPr>
              <a:t>結果</a:t>
            </a:r>
            <a:endParaRPr kumimoji="1" lang="en-US" altLang="ja-JP" sz="1400" dirty="0">
              <a:latin typeface="Arial" panose="020B0604020202020204" pitchFamily="34" charset="0"/>
              <a:ea typeface="Meiryo" panose="020B0604030504040204" pitchFamily="34" charset="-128"/>
            </a:endParaRPr>
          </a:p>
          <a:p>
            <a:pPr algn="ctr"/>
            <a:endParaRPr kumimoji="1" lang="ja-JP" altLang="en-US" sz="1400">
              <a:latin typeface="Arial" panose="020B0604020202020204" pitchFamily="34" charset="0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0104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52</Words>
  <Application>Microsoft Macintosh PowerPoint</Application>
  <PresentationFormat>ワイド画面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TOI YUUKI</dc:creator>
  <cp:lastModifiedBy>TOI YUUKI</cp:lastModifiedBy>
  <cp:revision>7</cp:revision>
  <dcterms:created xsi:type="dcterms:W3CDTF">2026-01-05T13:11:44Z</dcterms:created>
  <dcterms:modified xsi:type="dcterms:W3CDTF">2026-01-05T14:34:22Z</dcterms:modified>
</cp:coreProperties>
</file>